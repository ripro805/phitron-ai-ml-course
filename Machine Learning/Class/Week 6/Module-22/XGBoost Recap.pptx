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8229600" cx="14630400"/>
  <p:notesSz cx="8229600" cy="14630400"/>
  <p:embeddedFontLst>
    <p:embeddedFont>
      <p:font typeface="Marcellus"/>
      <p:regular r:id="rId9"/>
    </p:embeddedFon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Marcellu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" name="Google Shape;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8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7"/>
          <p:cNvSpPr/>
          <p:nvPr/>
        </p:nvSpPr>
        <p:spPr>
          <a:xfrm>
            <a:off x="3242912" y="3653433"/>
            <a:ext cx="70980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63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550"/>
              <a:buFont typeface="Marcellus"/>
              <a:buNone/>
            </a:pPr>
            <a:r>
              <a:rPr b="0" i="0" lang="en-US" sz="5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XGBoost Recap</a:t>
            </a:r>
            <a:endParaRPr b="0" i="0" sz="55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864037" y="1710452"/>
            <a:ext cx="8814197" cy="9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3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550"/>
              <a:buFont typeface="Marcellus"/>
              <a:buNone/>
            </a:pPr>
            <a:r>
              <a:rPr b="0" i="0" lang="en-US" sz="5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Core Ideas Behind XGBoost</a:t>
            </a:r>
            <a:endParaRPr b="0" i="0" sz="5550" u="none" cap="none" strike="noStrike"/>
          </a:p>
        </p:txBody>
      </p:sp>
      <p:sp>
        <p:nvSpPr>
          <p:cNvPr id="37" name="Google Shape;37;p8"/>
          <p:cNvSpPr/>
          <p:nvPr/>
        </p:nvSpPr>
        <p:spPr>
          <a:xfrm>
            <a:off x="864037" y="3126938"/>
            <a:ext cx="12902327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57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XGBoost improves Gradient Boosting. Three core ideas drive its performance.</a:t>
            </a:r>
            <a:endParaRPr b="0" i="0" sz="1900" u="none" cap="none" strike="noStrike"/>
          </a:p>
        </p:txBody>
      </p:sp>
      <p:sp>
        <p:nvSpPr>
          <p:cNvPr id="38" name="Google Shape;38;p8"/>
          <p:cNvSpPr/>
          <p:nvPr/>
        </p:nvSpPr>
        <p:spPr>
          <a:xfrm>
            <a:off x="864037" y="3725585"/>
            <a:ext cx="6327696" cy="2793444"/>
          </a:xfrm>
          <a:prstGeom prst="roundRect">
            <a:avLst>
              <a:gd fmla="val 3712" name="adj"/>
            </a:avLst>
          </a:prstGeom>
          <a:solidFill>
            <a:srgbClr val="FFFFF4"/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/>
          <p:nvPr/>
        </p:nvSpPr>
        <p:spPr>
          <a:xfrm>
            <a:off x="1141333" y="4002881"/>
            <a:ext cx="740569" cy="740569"/>
          </a:xfrm>
          <a:prstGeom prst="roundRect">
            <a:avLst>
              <a:gd fmla="val 12346028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4930" y="4206478"/>
            <a:ext cx="333256" cy="333256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/>
          <p:nvPr/>
        </p:nvSpPr>
        <p:spPr>
          <a:xfrm>
            <a:off x="1141333" y="4990267"/>
            <a:ext cx="3625096" cy="461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750"/>
              <a:buFont typeface="Marcellus"/>
              <a:buNone/>
            </a:pPr>
            <a:r>
              <a:rPr b="0" i="0" lang="en-US" sz="2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Regularization Control</a:t>
            </a:r>
            <a:endParaRPr b="0" i="0" sz="2750" u="none" cap="none" strike="noStrike"/>
          </a:p>
        </p:txBody>
      </p:sp>
      <p:sp>
        <p:nvSpPr>
          <p:cNvPr id="42" name="Google Shape;42;p8"/>
          <p:cNvSpPr/>
          <p:nvPr/>
        </p:nvSpPr>
        <p:spPr>
          <a:xfrm>
            <a:off x="1141333" y="5599748"/>
            <a:ext cx="5773103" cy="64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57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Prevents overfitting with L1/L2 regularization, penalizing model complexity.</a:t>
            </a:r>
            <a:endParaRPr b="0" i="0" sz="1900" u="none" cap="none" strike="noStrike"/>
          </a:p>
        </p:txBody>
      </p:sp>
      <p:sp>
        <p:nvSpPr>
          <p:cNvPr id="43" name="Google Shape;43;p8"/>
          <p:cNvSpPr/>
          <p:nvPr/>
        </p:nvSpPr>
        <p:spPr>
          <a:xfrm>
            <a:off x="7438549" y="3725585"/>
            <a:ext cx="6327815" cy="2793444"/>
          </a:xfrm>
          <a:prstGeom prst="roundRect">
            <a:avLst>
              <a:gd fmla="val 3712" name="adj"/>
            </a:avLst>
          </a:prstGeom>
          <a:solidFill>
            <a:srgbClr val="FFFFF4"/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/>
          <p:nvPr/>
        </p:nvSpPr>
        <p:spPr>
          <a:xfrm>
            <a:off x="7715845" y="4002881"/>
            <a:ext cx="740569" cy="740569"/>
          </a:xfrm>
          <a:prstGeom prst="roundRect">
            <a:avLst>
              <a:gd fmla="val 12346028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9442" y="4206478"/>
            <a:ext cx="333256" cy="33325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/>
          <p:nvPr/>
        </p:nvSpPr>
        <p:spPr>
          <a:xfrm>
            <a:off x="7715845" y="4990267"/>
            <a:ext cx="4484132" cy="461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750"/>
              <a:buFont typeface="Marcellus"/>
              <a:buNone/>
            </a:pPr>
            <a:r>
              <a:rPr b="0" i="0" lang="en-US" sz="2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Second-Order Optimization</a:t>
            </a:r>
            <a:endParaRPr b="0" i="0" sz="2750" u="none" cap="none" strike="noStrike"/>
          </a:p>
        </p:txBody>
      </p:sp>
      <p:sp>
        <p:nvSpPr>
          <p:cNvPr id="47" name="Google Shape;47;p8"/>
          <p:cNvSpPr/>
          <p:nvPr/>
        </p:nvSpPr>
        <p:spPr>
          <a:xfrm>
            <a:off x="7715845" y="5599748"/>
            <a:ext cx="5773222" cy="64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57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Utilizes second-order derivatives (Hessians) for precise, faster convergence.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>
            <a:off x="706517" y="684371"/>
            <a:ext cx="8864798" cy="754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67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550"/>
              <a:buFont typeface="Marcellus"/>
              <a:buNone/>
            </a:pPr>
            <a:r>
              <a:rPr b="0" i="0" lang="en-US" sz="4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How XGBoost Learns and Predicts</a:t>
            </a:r>
            <a:endParaRPr b="0" i="0" sz="4550" u="none" cap="none" strike="noStrike"/>
          </a:p>
        </p:txBody>
      </p:sp>
      <p:sp>
        <p:nvSpPr>
          <p:cNvPr id="54" name="Google Shape;54;p9"/>
          <p:cNvSpPr/>
          <p:nvPr/>
        </p:nvSpPr>
        <p:spPr>
          <a:xfrm>
            <a:off x="706517" y="1842492"/>
            <a:ext cx="13217366" cy="262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25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XGBoost's iterative training workflow systematically builds model capacity while controlling complexity.</a:t>
            </a:r>
            <a:endParaRPr b="0" i="0" sz="1550" u="none" cap="none" strike="noStrike"/>
          </a:p>
        </p:txBody>
      </p:sp>
      <p:sp>
        <p:nvSpPr>
          <p:cNvPr id="55" name="Google Shape;55;p9"/>
          <p:cNvSpPr/>
          <p:nvPr/>
        </p:nvSpPr>
        <p:spPr>
          <a:xfrm>
            <a:off x="706517" y="2634615"/>
            <a:ext cx="4271248" cy="2391608"/>
          </a:xfrm>
          <a:prstGeom prst="roundRect">
            <a:avLst>
              <a:gd fmla="val 4588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9"/>
          <p:cNvSpPr/>
          <p:nvPr/>
        </p:nvSpPr>
        <p:spPr>
          <a:xfrm>
            <a:off x="706517" y="2611755"/>
            <a:ext cx="4271248" cy="91440"/>
          </a:xfrm>
          <a:prstGeom prst="roundRect">
            <a:avLst>
              <a:gd fmla="val 92722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/>
          <p:nvPr/>
        </p:nvSpPr>
        <p:spPr>
          <a:xfrm>
            <a:off x="2539365" y="2331839"/>
            <a:ext cx="605552" cy="605552"/>
          </a:xfrm>
          <a:prstGeom prst="roundRect">
            <a:avLst>
              <a:gd fmla="val 15100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1054" y="2513528"/>
            <a:ext cx="242173" cy="24217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9"/>
          <p:cNvSpPr/>
          <p:nvPr/>
        </p:nvSpPr>
        <p:spPr>
          <a:xfrm>
            <a:off x="931188" y="3139202"/>
            <a:ext cx="366748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50"/>
              <a:buFont typeface="Marcellus"/>
              <a:buNone/>
            </a:pPr>
            <a:r>
              <a:rPr b="0" i="0" lang="en-US" sz="22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Base Prediction Initialization</a:t>
            </a:r>
            <a:endParaRPr b="0" i="0" sz="2250" u="none" cap="none" strike="noStrike"/>
          </a:p>
        </p:txBody>
      </p:sp>
      <p:sp>
        <p:nvSpPr>
          <p:cNvPr id="60" name="Google Shape;60;p9"/>
          <p:cNvSpPr/>
          <p:nvPr/>
        </p:nvSpPr>
        <p:spPr>
          <a:xfrm>
            <a:off x="931188" y="3637478"/>
            <a:ext cx="3821906" cy="786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25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Starts with a simple baseline prediction (e.g., mean of target values).</a:t>
            </a:r>
            <a:endParaRPr b="0" i="0" sz="1550" u="none" cap="none" strike="noStrike"/>
          </a:p>
        </p:txBody>
      </p:sp>
      <p:sp>
        <p:nvSpPr>
          <p:cNvPr id="61" name="Google Shape;61;p9"/>
          <p:cNvSpPr/>
          <p:nvPr/>
        </p:nvSpPr>
        <p:spPr>
          <a:xfrm>
            <a:off x="5179576" y="2634615"/>
            <a:ext cx="4271248" cy="2391608"/>
          </a:xfrm>
          <a:prstGeom prst="roundRect">
            <a:avLst>
              <a:gd fmla="val 4588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5179576" y="2611755"/>
            <a:ext cx="4271248" cy="91440"/>
          </a:xfrm>
          <a:prstGeom prst="roundRect">
            <a:avLst>
              <a:gd fmla="val 92722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9"/>
          <p:cNvSpPr/>
          <p:nvPr/>
        </p:nvSpPr>
        <p:spPr>
          <a:xfrm>
            <a:off x="7012424" y="2331839"/>
            <a:ext cx="605552" cy="605552"/>
          </a:xfrm>
          <a:prstGeom prst="roundRect">
            <a:avLst>
              <a:gd fmla="val 15100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4113" y="2513528"/>
            <a:ext cx="242173" cy="24217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/>
          <p:nvPr/>
        </p:nvSpPr>
        <p:spPr>
          <a:xfrm>
            <a:off x="5404247" y="3139202"/>
            <a:ext cx="3821906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50"/>
              <a:buFont typeface="Marcellus"/>
              <a:buNone/>
            </a:pPr>
            <a:r>
              <a:rPr b="0" i="0" lang="en-US" sz="22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Gradient and Hessian Computation</a:t>
            </a:r>
            <a:endParaRPr b="0" i="0" sz="2250" u="none" cap="none" strike="noStrike"/>
          </a:p>
        </p:txBody>
      </p:sp>
      <p:sp>
        <p:nvSpPr>
          <p:cNvPr id="66" name="Google Shape;66;p9"/>
          <p:cNvSpPr/>
          <p:nvPr/>
        </p:nvSpPr>
        <p:spPr>
          <a:xfrm>
            <a:off x="5404247" y="4014668"/>
            <a:ext cx="3821906" cy="786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25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Computes first-order (gradient) and second-order (Hessian) derivatives to guide prediction changes.</a:t>
            </a:r>
            <a:endParaRPr b="0" i="0" sz="1550" u="none" cap="none" strike="noStrike"/>
          </a:p>
        </p:txBody>
      </p:sp>
      <p:sp>
        <p:nvSpPr>
          <p:cNvPr id="67" name="Google Shape;67;p9"/>
          <p:cNvSpPr/>
          <p:nvPr/>
        </p:nvSpPr>
        <p:spPr>
          <a:xfrm>
            <a:off x="9652635" y="2634615"/>
            <a:ext cx="4271248" cy="2391608"/>
          </a:xfrm>
          <a:prstGeom prst="roundRect">
            <a:avLst>
              <a:gd fmla="val 4588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9652635" y="2611755"/>
            <a:ext cx="4271248" cy="91440"/>
          </a:xfrm>
          <a:prstGeom prst="roundRect">
            <a:avLst>
              <a:gd fmla="val 92722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11485483" y="2331839"/>
            <a:ext cx="605552" cy="605552"/>
          </a:xfrm>
          <a:prstGeom prst="roundRect">
            <a:avLst>
              <a:gd fmla="val 15100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67173" y="2513528"/>
            <a:ext cx="242173" cy="24217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/>
          <p:nvPr/>
        </p:nvSpPr>
        <p:spPr>
          <a:xfrm>
            <a:off x="9877306" y="3139202"/>
            <a:ext cx="317432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50"/>
              <a:buFont typeface="Marcellus"/>
              <a:buNone/>
            </a:pPr>
            <a:r>
              <a:rPr b="0" i="0" lang="en-US" sz="22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Sequential Tree Updates</a:t>
            </a:r>
            <a:endParaRPr b="0" i="0" sz="2250" u="none" cap="none" strike="noStrike"/>
          </a:p>
        </p:txBody>
      </p:sp>
      <p:sp>
        <p:nvSpPr>
          <p:cNvPr id="72" name="Google Shape;72;p9"/>
          <p:cNvSpPr/>
          <p:nvPr/>
        </p:nvSpPr>
        <p:spPr>
          <a:xfrm>
            <a:off x="9877306" y="3637478"/>
            <a:ext cx="3821906" cy="1049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25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Sequentially adds new trees, fitted to residual errors using gradient and Hessian. Regularization prevents overfitting.</a:t>
            </a:r>
            <a:endParaRPr b="0" i="0" sz="1550" u="none" cap="none" strike="noStrike"/>
          </a:p>
        </p:txBody>
      </p:sp>
      <p:sp>
        <p:nvSpPr>
          <p:cNvPr id="73" name="Google Shape;73;p9"/>
          <p:cNvSpPr/>
          <p:nvPr/>
        </p:nvSpPr>
        <p:spPr>
          <a:xfrm>
            <a:off x="706517" y="5530810"/>
            <a:ext cx="6507718" cy="2014418"/>
          </a:xfrm>
          <a:prstGeom prst="roundRect">
            <a:avLst>
              <a:gd fmla="val 5447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706517" y="5507950"/>
            <a:ext cx="6507718" cy="91440"/>
          </a:xfrm>
          <a:prstGeom prst="roundRect">
            <a:avLst>
              <a:gd fmla="val 92722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3657600" y="5228034"/>
            <a:ext cx="605552" cy="605552"/>
          </a:xfrm>
          <a:prstGeom prst="roundRect">
            <a:avLst>
              <a:gd fmla="val 15100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39289" y="5409724"/>
            <a:ext cx="242173" cy="242173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/>
          <p:nvPr/>
        </p:nvSpPr>
        <p:spPr>
          <a:xfrm>
            <a:off x="931188" y="6035397"/>
            <a:ext cx="2901791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50"/>
              <a:buFont typeface="Marcellus"/>
              <a:buNone/>
            </a:pPr>
            <a:r>
              <a:rPr b="0" i="0" lang="en-US" sz="22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Learning Rate Control</a:t>
            </a:r>
            <a:endParaRPr b="0" i="0" sz="2250" u="none" cap="none" strike="noStrike"/>
          </a:p>
        </p:txBody>
      </p:sp>
      <p:sp>
        <p:nvSpPr>
          <p:cNvPr id="78" name="Google Shape;78;p9"/>
          <p:cNvSpPr/>
          <p:nvPr/>
        </p:nvSpPr>
        <p:spPr>
          <a:xfrm>
            <a:off x="931188" y="6533674"/>
            <a:ext cx="6058376" cy="786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25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Uses a learning rate to scale each tree's contribution. Smaller rates improve generalization and prevent overfitting.</a:t>
            </a:r>
            <a:endParaRPr b="0" i="0" sz="1550" u="none" cap="none" strike="noStrike"/>
          </a:p>
        </p:txBody>
      </p:sp>
      <p:sp>
        <p:nvSpPr>
          <p:cNvPr id="79" name="Google Shape;79;p9"/>
          <p:cNvSpPr/>
          <p:nvPr/>
        </p:nvSpPr>
        <p:spPr>
          <a:xfrm>
            <a:off x="7416046" y="5530810"/>
            <a:ext cx="6507837" cy="2014418"/>
          </a:xfrm>
          <a:prstGeom prst="roundRect">
            <a:avLst>
              <a:gd fmla="val 5447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9"/>
          <p:cNvSpPr/>
          <p:nvPr/>
        </p:nvSpPr>
        <p:spPr>
          <a:xfrm>
            <a:off x="7416046" y="5507950"/>
            <a:ext cx="6507837" cy="91440"/>
          </a:xfrm>
          <a:prstGeom prst="roundRect">
            <a:avLst>
              <a:gd fmla="val 92722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10367129" y="5228034"/>
            <a:ext cx="605552" cy="605552"/>
          </a:xfrm>
          <a:prstGeom prst="roundRect">
            <a:avLst>
              <a:gd fmla="val 15100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48818" y="5409724"/>
            <a:ext cx="242173" cy="24217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9"/>
          <p:cNvSpPr/>
          <p:nvPr/>
        </p:nvSpPr>
        <p:spPr>
          <a:xfrm>
            <a:off x="7640717" y="6035397"/>
            <a:ext cx="32687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50"/>
              <a:buFont typeface="Marcellus"/>
              <a:buNone/>
            </a:pPr>
            <a:r>
              <a:rPr b="0" i="0" lang="en-US" sz="22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Early Stopping Validation</a:t>
            </a:r>
            <a:endParaRPr b="0" i="0" sz="2250" u="none" cap="none" strike="noStrike"/>
          </a:p>
        </p:txBody>
      </p:sp>
      <p:sp>
        <p:nvSpPr>
          <p:cNvPr id="84" name="Google Shape;84;p9"/>
          <p:cNvSpPr/>
          <p:nvPr/>
        </p:nvSpPr>
        <p:spPr>
          <a:xfrm>
            <a:off x="7640717" y="6533674"/>
            <a:ext cx="6058495" cy="524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25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Training stops early if validation performance no longer improves, preventing overfitting.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/>
          <p:nvPr/>
        </p:nvSpPr>
        <p:spPr>
          <a:xfrm>
            <a:off x="864037" y="834747"/>
            <a:ext cx="9211628" cy="9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3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550"/>
              <a:buFont typeface="Marcellus"/>
              <a:buNone/>
            </a:pPr>
            <a:r>
              <a:rPr b="0" i="0" lang="en-US" sz="5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Practical XGBoost Outcomes</a:t>
            </a:r>
            <a:endParaRPr b="0" i="0" sz="5550" u="none" cap="none" strike="noStrike"/>
          </a:p>
        </p:txBody>
      </p:sp>
      <p:sp>
        <p:nvSpPr>
          <p:cNvPr id="91" name="Google Shape;91;p10"/>
          <p:cNvSpPr/>
          <p:nvPr/>
        </p:nvSpPr>
        <p:spPr>
          <a:xfrm>
            <a:off x="864037" y="2251234"/>
            <a:ext cx="12902327" cy="64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57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module provides skills for deploying XGBoost in production: running the algorithm, interpreting its behavior, and making informed decisions.</a:t>
            </a:r>
            <a:endParaRPr b="0" i="0" sz="1900" u="none" cap="none" strike="noStrike"/>
          </a:p>
        </p:txBody>
      </p:sp>
      <p:sp>
        <p:nvSpPr>
          <p:cNvPr id="92" name="Google Shape;92;p10"/>
          <p:cNvSpPr/>
          <p:nvPr/>
        </p:nvSpPr>
        <p:spPr>
          <a:xfrm>
            <a:off x="864037" y="3417689"/>
            <a:ext cx="3549015" cy="461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750"/>
              <a:buFont typeface="Marcellus"/>
              <a:buNone/>
            </a:pPr>
            <a:r>
              <a:rPr b="0" i="0" lang="en-US" sz="27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Implementation Skills</a:t>
            </a:r>
            <a:endParaRPr b="0" i="0" sz="2750" u="none" cap="none" strike="noStrike"/>
          </a:p>
        </p:txBody>
      </p:sp>
      <p:sp>
        <p:nvSpPr>
          <p:cNvPr id="93" name="Google Shape;93;p10"/>
          <p:cNvSpPr/>
          <p:nvPr/>
        </p:nvSpPr>
        <p:spPr>
          <a:xfrm>
            <a:off x="864037" y="4125873"/>
            <a:ext cx="6150054" cy="962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57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Configure XGBoost hyperparameters. Understand regularization, learning rate, and tree depth for principled experimentation.</a:t>
            </a:r>
            <a:endParaRPr b="0" i="0" sz="1900" u="none" cap="none" strike="noStrike"/>
          </a:p>
        </p:txBody>
      </p:sp>
      <p:sp>
        <p:nvSpPr>
          <p:cNvPr id="94" name="Google Shape;94;p10"/>
          <p:cNvSpPr/>
          <p:nvPr/>
        </p:nvSpPr>
        <p:spPr>
          <a:xfrm>
            <a:off x="7623929" y="3417689"/>
            <a:ext cx="4376976" cy="461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750"/>
              <a:buFont typeface="Marcellus"/>
              <a:buNone/>
            </a:pPr>
            <a:r>
              <a:rPr b="0" i="0" lang="en-US" sz="27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Evaluation &amp; Interpretation</a:t>
            </a:r>
            <a:endParaRPr b="0" i="0" sz="2750" u="none" cap="none" strike="noStrike"/>
          </a:p>
        </p:txBody>
      </p:sp>
      <p:sp>
        <p:nvSpPr>
          <p:cNvPr id="95" name="Google Shape;95;p10"/>
          <p:cNvSpPr/>
          <p:nvPr/>
        </p:nvSpPr>
        <p:spPr>
          <a:xfrm>
            <a:off x="7623929" y="4125873"/>
            <a:ext cx="6150054" cy="962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57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Read training logs, interpret early stopping, diagnose overfitting/underfitting. Essential for quick iteration and model adjustments.</a:t>
            </a:r>
            <a:endParaRPr b="0" i="0" sz="1900" u="none" cap="none" strike="noStrike"/>
          </a:p>
        </p:txBody>
      </p:sp>
      <p:sp>
        <p:nvSpPr>
          <p:cNvPr id="96" name="Google Shape;96;p10"/>
          <p:cNvSpPr/>
          <p:nvPr/>
        </p:nvSpPr>
        <p:spPr>
          <a:xfrm>
            <a:off x="864037" y="5588675"/>
            <a:ext cx="12902327" cy="1806059"/>
          </a:xfrm>
          <a:prstGeom prst="roundRect">
            <a:avLst>
              <a:gd fmla="val 5741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0"/>
          <p:cNvSpPr/>
          <p:nvPr/>
        </p:nvSpPr>
        <p:spPr>
          <a:xfrm>
            <a:off x="1141333" y="5865971"/>
            <a:ext cx="3587234" cy="461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750"/>
              <a:buFont typeface="Marcellus"/>
              <a:buNone/>
            </a:pPr>
            <a:r>
              <a:rPr b="0" i="0" lang="en-US" sz="2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Tabular Data Expertise</a:t>
            </a:r>
            <a:endParaRPr b="0" i="0" sz="2750" u="none" cap="none" strike="noStrike"/>
          </a:p>
        </p:txBody>
      </p:sp>
      <p:sp>
        <p:nvSpPr>
          <p:cNvPr id="98" name="Google Shape;98;p10"/>
          <p:cNvSpPr/>
          <p:nvPr/>
        </p:nvSpPr>
        <p:spPr>
          <a:xfrm>
            <a:off x="1141333" y="6475452"/>
            <a:ext cx="12347734" cy="64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57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XGBoost excels on structured data: fraud detection, churn, risk scoring. Powerful for real-world problems.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